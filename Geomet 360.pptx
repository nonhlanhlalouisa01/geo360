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457" r:id="rId3"/>
    <p:sldId id="659" r:id="rId4"/>
    <p:sldId id="862"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 dt="2026-09-30T09:51:51.952"/>
    <p1510:client id="{EABD4F9E-CDA0-41B7-97FE-8ADBD5613D35}" v="6" dt="2026-09-30T09:46:51.3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C964E3-3BF2-48B5-9D14-DCDA58DA4041}" type="datetimeFigureOut">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47512-A112-46F4-A39C-E40A52E7BF16}" type="slidenum">
              <a:t>‹#›</a:t>
            </a:fld>
            <a:endParaRPr lang="en-US"/>
          </a:p>
        </p:txBody>
      </p:sp>
    </p:spTree>
    <p:extLst>
      <p:ext uri="{BB962C8B-B14F-4D97-AF65-F5344CB8AC3E}">
        <p14:creationId xmlns:p14="http://schemas.microsoft.com/office/powerpoint/2010/main" val="3742919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 Good morning. Every orebody is variable, and that variability decides what every tonne is worth once it reaches the plant. Geomet 360 is an AI-powered geometallurgical agent that connects what we know about the orebody to what we know about plant performance. In the next four minutes I'll show you the problem it solves, how it works, and what it means for the business. One sentence to hold on to: Geomet 360 answers the question 'How will this ore behave when it reaches the plant - and what does that mean for us?'</a:t>
            </a:r>
          </a:p>
        </p:txBody>
      </p:sp>
      <p:sp>
        <p:nvSpPr>
          <p:cNvPr id="4" name="Slide Number Placeholder 3"/>
          <p:cNvSpPr>
            <a:spLocks noGrp="1"/>
          </p:cNvSpPr>
          <p:nvPr>
            <p:ph type="sldNum" sz="quarter" idx="5"/>
          </p:nvPr>
        </p:nvSpPr>
        <p:spPr/>
        <p:txBody>
          <a:bodyPr/>
          <a:lstStyle/>
          <a:p>
            <a:fld id="{6AD47512-A112-46F4-A39C-E40A52E7BF16}" type="slidenum">
              <a:t>1</a:t>
            </a:fld>
            <a:endParaRPr lang="en-US"/>
          </a:p>
        </p:txBody>
      </p:sp>
    </p:spTree>
    <p:extLst>
      <p:ext uri="{BB962C8B-B14F-4D97-AF65-F5344CB8AC3E}">
        <p14:creationId xmlns:p14="http://schemas.microsoft.com/office/powerpoint/2010/main" val="2679655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sec) Here is the problem. Changes in mineralogy, texture, hardness, liberation and chemistry all change how ore behaves in the plant - and that flows straight through to recovery, throughput, energy, water, operating cost and the value of every tonne. The frustrating part is that we are not short of information. Mines already generate enormous volumes of geological, mineralogical, geometallurgical and plant data. But it lives in different datasets, different systems and different disciplines, so nobody sees the whole picture. The result is reactive: we discover difficult ore after throughput has dropped or recovery has been lost.</a:t>
            </a:r>
          </a:p>
        </p:txBody>
      </p:sp>
      <p:sp>
        <p:nvSpPr>
          <p:cNvPr id="4" name="Slide Number Placeholder 3"/>
          <p:cNvSpPr>
            <a:spLocks noGrp="1"/>
          </p:cNvSpPr>
          <p:nvPr>
            <p:ph type="sldNum" sz="quarter" idx="5"/>
          </p:nvPr>
        </p:nvSpPr>
        <p:spPr/>
        <p:txBody>
          <a:bodyPr/>
          <a:lstStyle/>
          <a:p>
            <a:fld id="{6AD47512-A112-46F4-A39C-E40A52E7BF16}" type="slidenum">
              <a:t>2</a:t>
            </a:fld>
            <a:endParaRPr lang="en-US"/>
          </a:p>
        </p:txBody>
      </p:sp>
    </p:spTree>
    <p:extLst>
      <p:ext uri="{BB962C8B-B14F-4D97-AF65-F5344CB8AC3E}">
        <p14:creationId xmlns:p14="http://schemas.microsoft.com/office/powerpoint/2010/main" val="2679322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(~75 sec) Geomet 360 creates a dynamic link between the orebody and plant performance. It connects mineralogy, ore characteristics, geometallurgical data, domain knowledge and historical processing response. It identifies similar material processed in the past, connects that to processing models, and anticipates likely behaviour: what recovery can we expect, will throughput be constrained, what is driving the response, and what could we do before that material arrives. That shifts us from reactive to proactive - mine planners, geologists and metallurgists working from one shared view of expected ore behaviour to support sequencing, blending and processing decisions. And it is conversational: you can simply ask 'Why is recovery expected to decrease?' or 'Have we processed similar material before?' and get the answer with the evidence and context behind it.</a:t>
            </a:r>
          </a:p>
        </p:txBody>
      </p:sp>
      <p:sp>
        <p:nvSpPr>
          <p:cNvPr id="4" name="Slide Number Placeholder 3"/>
          <p:cNvSpPr>
            <a:spLocks noGrp="1"/>
          </p:cNvSpPr>
          <p:nvPr>
            <p:ph type="sldNum" sz="quarter" idx="5"/>
          </p:nvPr>
        </p:nvSpPr>
        <p:spPr/>
        <p:txBody>
          <a:bodyPr/>
          <a:lstStyle/>
          <a:p>
            <a:fld id="{6AD47512-A112-46F4-A39C-E40A52E7BF16}" type="slidenum">
              <a:t>3</a:t>
            </a:fld>
            <a:endParaRPr lang="en-US"/>
          </a:p>
        </p:txBody>
      </p:sp>
    </p:spTree>
    <p:extLst>
      <p:ext uri="{BB962C8B-B14F-4D97-AF65-F5344CB8AC3E}">
        <p14:creationId xmlns:p14="http://schemas.microsoft.com/office/powerpoint/2010/main" val="4280639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(~60 sec) The business case is straightforward. More predictable feed means more stable production, improved recovery, fewer unexpected throughput losses and better use of plant capacity. Understanding ore behaviour earlier also lets us target energy, water and reagent consumption more effectively, supporting lower unit processing costs and better resource efficiency. And it compounds: as ore moves through the operation we compare predicted behaviour with actual plant performance, and that actual response becomes new knowledge - a dynamic geometallurgical model that keeps strengthening the connection between the orebody and the plant. A 360-degree view of the ore: what it is, how it will behave, what it costs to process, what value it delivers, and what we learn from the outcome. Know the ore. Predict the performance. Protect the value. Geomet 360.</a:t>
            </a:r>
          </a:p>
        </p:txBody>
      </p:sp>
      <p:sp>
        <p:nvSpPr>
          <p:cNvPr id="4" name="Slide Number Placeholder 3"/>
          <p:cNvSpPr>
            <a:spLocks noGrp="1"/>
          </p:cNvSpPr>
          <p:nvPr>
            <p:ph type="sldNum" sz="quarter" idx="5"/>
          </p:nvPr>
        </p:nvSpPr>
        <p:spPr/>
        <p:txBody>
          <a:bodyPr/>
          <a:lstStyle/>
          <a:p>
            <a:fld id="{6AD47512-A112-46F4-A39C-E40A52E7BF16}" type="slidenum">
              <a:t>4</a:t>
            </a:fld>
            <a:endParaRPr lang="en-US"/>
          </a:p>
        </p:txBody>
      </p:sp>
    </p:spTree>
    <p:extLst>
      <p:ext uri="{BB962C8B-B14F-4D97-AF65-F5344CB8AC3E}">
        <p14:creationId xmlns:p14="http://schemas.microsoft.com/office/powerpoint/2010/main" val="3580454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p:nvSpPr>
          <p:cNvPr id="4" name="coverScrim">
            <a:extLst>
              <a:ext uri="{FF2B5EF4-FFF2-40B4-BE49-F238E27FC236}">
                <a16:creationId xmlns:a16="http://schemas.microsoft.com/office/drawing/2014/main" id="{6068DA6D-0229-50D2-A3B7-67C2D614DA67}"/>
              </a:ext>
            </a:extLst>
          </p:cNvPr>
          <p:cNvSpPr/>
          <p:nvPr/>
        </p:nvSpPr>
        <p:spPr>
          <a:xfrm>
            <a:off x="0" y="0"/>
            <a:ext cx="12192000" cy="6858000"/>
          </a:xfrm>
          <a:prstGeom prst="rect">
            <a:avLst/>
          </a:prstGeom>
          <a:solidFill>
            <a:srgbClr val="14130F">
              <a:alpha val="6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D9626-CFF2-440F-FFBA-B97DFADA624C}"/>
              </a:ext>
            </a:extLst>
          </p:cNvPr>
          <p:cNvSpPr/>
          <p:nvPr/>
        </p:nvSpPr>
        <p:spPr>
          <a:xfrm>
            <a:off x="685800" y="2100000"/>
            <a:ext cx="6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spc="200">
                <a:solidFill>
                  <a:srgbClr val="D2762F"/>
                </a:solidFill>
                <a:effectLst/>
                <a:latin typeface="Arial" panose="020B0604020202020204" pitchFamily="34" charset="0"/>
              </a:rPr>
              <a:t>AI-POWERED GEOMETALLURGY</a:t>
            </a:r>
          </a:p>
          <a:p>
            <a:pPr algn="l">
              <a:buNone/>
            </a:pPr>
            <a:r>
              <a:rPr lang="en-US" sz="100">
                <a:effectLst/>
              </a:rPr>
              <a:t> </a:t>
            </a:r>
            <a:endParaRPr lang="en-US"/>
          </a:p>
        </p:txBody>
      </p:sp>
      <p:sp>
        <p:nvSpPr>
          <p:cNvPr id="13" name="Rectangle 12">
            <a:extLst>
              <a:ext uri="{FF2B5EF4-FFF2-40B4-BE49-F238E27FC236}">
                <a16:creationId xmlns:a16="http://schemas.microsoft.com/office/drawing/2014/main" id="{4C6E6184-154D-1C51-389F-183DBC5051DD}"/>
              </a:ext>
            </a:extLst>
          </p:cNvPr>
          <p:cNvSpPr/>
          <p:nvPr/>
        </p:nvSpPr>
        <p:spPr>
          <a:xfrm>
            <a:off x="685800" y="2520000"/>
            <a:ext cx="60000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F6F2EA"/>
                </a:solidFill>
                <a:effectLst/>
                <a:latin typeface="Arial" panose="020B0604020202020204" pitchFamily="34" charset="0"/>
              </a:rPr>
              <a:t>Geomet 360</a:t>
            </a:r>
          </a:p>
          <a:p>
            <a:pPr algn="l">
              <a:buNone/>
            </a:pPr>
            <a:r>
              <a:rPr lang="en-US" sz="100">
                <a:effectLst/>
              </a:rPr>
              <a:t> </a:t>
            </a:r>
            <a:endParaRPr lang="en-US"/>
          </a:p>
        </p:txBody>
      </p:sp>
      <p:sp>
        <p:nvSpPr>
          <p:cNvPr id="18" name="Rectangle 17">
            <a:extLst>
              <a:ext uri="{FF2B5EF4-FFF2-40B4-BE49-F238E27FC236}">
                <a16:creationId xmlns:a16="http://schemas.microsoft.com/office/drawing/2014/main" id="{2005BA02-8A24-43F4-67D9-16E239A993DC}"/>
              </a:ext>
            </a:extLst>
          </p:cNvPr>
          <p:cNvSpPr/>
          <p:nvPr/>
        </p:nvSpPr>
        <p:spPr>
          <a:xfrm>
            <a:off x="685800" y="3750000"/>
            <a:ext cx="6300000" cy="9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800" dirty="0">
                <a:solidFill>
                  <a:srgbClr val="DCD5C7"/>
                </a:solidFill>
                <a:effectLst/>
                <a:latin typeface="Arial"/>
                <a:cs typeface="Arial"/>
              </a:rPr>
              <a:t>A 360-degree view of the ore</a:t>
            </a:r>
            <a:r>
              <a:rPr lang="en-US" dirty="0">
                <a:solidFill>
                  <a:srgbClr val="DCD5C7"/>
                </a:solidFill>
                <a:latin typeface="Arial"/>
                <a:cs typeface="Arial"/>
              </a:rPr>
              <a:t> - </a:t>
            </a:r>
            <a:r>
              <a:rPr lang="en-US" sz="1800" dirty="0">
                <a:solidFill>
                  <a:srgbClr val="DCD5C7"/>
                </a:solidFill>
                <a:effectLst/>
                <a:latin typeface="Arial"/>
                <a:cs typeface="Arial"/>
              </a:rPr>
              <a:t>what it is, how it will behave, and the value it can deliver.</a:t>
            </a:r>
          </a:p>
          <a:p>
            <a:pPr algn="l">
              <a:buNone/>
            </a:pP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C1B18"/>
        </a:solidFill>
        <a:effectLst/>
      </p:bgPr>
    </p:bg>
    <p:spTree>
      <p:nvGrpSpPr>
        <p:cNvPr id="1" name=""/>
        <p:cNvGrpSpPr/>
        <p:nvPr/>
      </p:nvGrpSpPr>
      <p:grpSpPr>
        <a:xfrm>
          <a:off x="0" y="0"/>
          <a:ext cx="0" cy="0"/>
          <a:chOff x="0" y="0"/>
          <a:chExt cx="0" cy="0"/>
        </a:xfrm>
      </p:grpSpPr>
      <p:pic>
        <p:nvPicPr>
          <p:cNvPr id="2" name="coreImg" descr="Drill core trays showing banded ore of varying mineralogy and texture">
            <a:extLst>
              <a:ext uri="{FF2B5EF4-FFF2-40B4-BE49-F238E27FC236}">
                <a16:creationId xmlns:a16="http://schemas.microsoft.com/office/drawing/2014/main" id="{03C9986E-5DDD-7177-2ACD-68A49495B6AC}"/>
              </a:ext>
            </a:extLst>
          </p:cNvPr>
          <p:cNvPicPr>
            <a:picLocks noChangeAspect="1"/>
          </p:cNvPicPr>
          <p:nvPr/>
        </p:nvPicPr>
        <p:blipFill>
          <a:blip r:embed="rId3"/>
          <a:stretch>
            <a:fillRect/>
          </a:stretch>
        </p:blipFill>
        <p:spPr>
          <a:xfrm>
            <a:off x="0" y="1958"/>
            <a:ext cx="5000000" cy="6854083"/>
          </a:xfrm>
          <a:prstGeom prst="rect">
            <a:avLst/>
          </a:prstGeom>
        </p:spPr>
      </p:pic>
      <p:sp>
        <p:nvSpPr>
          <p:cNvPr id="24" name="Rectangle 23">
            <a:extLst>
              <a:ext uri="{FF2B5EF4-FFF2-40B4-BE49-F238E27FC236}">
                <a16:creationId xmlns:a16="http://schemas.microsoft.com/office/drawing/2014/main" id="{603CD169-3386-DAE0-4B98-850D74903E12}"/>
              </a:ext>
            </a:extLst>
          </p:cNvPr>
          <p:cNvSpPr/>
          <p:nvPr/>
        </p:nvSpPr>
        <p:spPr>
          <a:xfrm>
            <a:off x="5486400" y="1150000"/>
            <a:ext cx="62484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spc="200">
                <a:solidFill>
                  <a:srgbClr val="D2762F"/>
                </a:solidFill>
                <a:effectLst/>
                <a:latin typeface="Arial" panose="020B0604020202020204" pitchFamily="34" charset="0"/>
              </a:rPr>
              <a:t>THE PROBLEM</a:t>
            </a:r>
          </a:p>
          <a:p>
            <a:pPr algn="l">
              <a:buNone/>
            </a:pPr>
            <a:r>
              <a:rPr lang="en-US" sz="100">
                <a:effectLst/>
              </a:rPr>
              <a:t> </a:t>
            </a:r>
            <a:endParaRPr lang="en-US"/>
          </a:p>
        </p:txBody>
      </p:sp>
      <p:sp>
        <p:nvSpPr>
          <p:cNvPr id="31" name="Rectangle 30">
            <a:extLst>
              <a:ext uri="{FF2B5EF4-FFF2-40B4-BE49-F238E27FC236}">
                <a16:creationId xmlns:a16="http://schemas.microsoft.com/office/drawing/2014/main" id="{F4A66702-E36D-80EF-7A33-EC0A4CE51DA1}"/>
              </a:ext>
            </a:extLst>
          </p:cNvPr>
          <p:cNvSpPr/>
          <p:nvPr/>
        </p:nvSpPr>
        <p:spPr>
          <a:xfrm>
            <a:off x="5486400" y="1600000"/>
            <a:ext cx="6248400" cy="12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F6F2EA"/>
                </a:solidFill>
                <a:effectLst/>
                <a:latin typeface="Arial" panose="020B0604020202020204" pitchFamily="34" charset="0"/>
              </a:rPr>
              <a:t>Ore behaviour is discovered too late</a:t>
            </a:r>
          </a:p>
          <a:p>
            <a:pPr algn="l">
              <a:buNone/>
            </a:pPr>
            <a:r>
              <a:rPr lang="en-US" sz="100">
                <a:effectLst/>
              </a:rPr>
              <a:t> </a:t>
            </a:r>
            <a:endParaRPr lang="en-US"/>
          </a:p>
        </p:txBody>
      </p:sp>
      <p:sp>
        <p:nvSpPr>
          <p:cNvPr id="39" name="p2bullets">
            <a:extLst>
              <a:ext uri="{FF2B5EF4-FFF2-40B4-BE49-F238E27FC236}">
                <a16:creationId xmlns:a16="http://schemas.microsoft.com/office/drawing/2014/main" id="{A884F16E-E321-8541-1919-9C568137F5F3}"/>
              </a:ext>
            </a:extLst>
          </p:cNvPr>
          <p:cNvSpPr/>
          <p:nvPr/>
        </p:nvSpPr>
        <p:spPr>
          <a:xfrm>
            <a:off x="5486400" y="2900000"/>
            <a:ext cx="6248400" cy="2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indent="-304800" algn="l">
              <a:buChar char="▸"/>
            </a:pPr>
            <a:r>
              <a:rPr lang="en-US" sz="1700" dirty="0">
                <a:solidFill>
                  <a:srgbClr val="DCD5C7"/>
                </a:solidFill>
                <a:effectLst/>
                <a:latin typeface="Arial"/>
                <a:cs typeface="Arial"/>
              </a:rPr>
              <a:t>Mineralogy, texture, hardness and chemistry vary</a:t>
            </a:r>
          </a:p>
          <a:p>
            <a:pPr indent="-304800" algn="l">
              <a:buChar char="▸"/>
            </a:pPr>
            <a:r>
              <a:rPr lang="en-US" sz="1700" dirty="0">
                <a:solidFill>
                  <a:srgbClr val="DCD5C7"/>
                </a:solidFill>
                <a:effectLst/>
                <a:latin typeface="Arial"/>
                <a:cs typeface="Arial"/>
              </a:rPr>
              <a:t>Recovery, throughput, energy and cost follow</a:t>
            </a:r>
          </a:p>
          <a:p>
            <a:pPr indent="-304800">
              <a:buChar char="▸"/>
            </a:pPr>
            <a:r>
              <a:rPr lang="en-US" sz="1700" dirty="0">
                <a:solidFill>
                  <a:srgbClr val="DCD5C7"/>
                </a:solidFill>
                <a:effectLst/>
                <a:latin typeface="Arial"/>
                <a:cs typeface="Arial"/>
              </a:rPr>
              <a:t>The knowledge exists </a:t>
            </a:r>
            <a:r>
              <a:rPr lang="en-US" sz="1700" dirty="0">
                <a:solidFill>
                  <a:srgbClr val="DCD5C7"/>
                </a:solidFill>
                <a:latin typeface="Arial"/>
                <a:cs typeface="Arial"/>
              </a:rPr>
              <a:t>- </a:t>
            </a:r>
            <a:r>
              <a:rPr lang="en-US" sz="1700" dirty="0">
                <a:solidFill>
                  <a:srgbClr val="DCD5C7"/>
                </a:solidFill>
                <a:effectLst/>
                <a:latin typeface="Arial"/>
                <a:cs typeface="Arial"/>
              </a:rPr>
              <a:t>scattered across systems</a:t>
            </a:r>
          </a:p>
          <a:p>
            <a:pPr indent="-304800" algn="l">
              <a:buChar char="▸"/>
            </a:pPr>
            <a:r>
              <a:rPr lang="en-US" sz="1700" dirty="0">
                <a:solidFill>
                  <a:srgbClr val="DCD5C7"/>
                </a:solidFill>
                <a:effectLst/>
                <a:latin typeface="Arial"/>
                <a:cs typeface="Arial"/>
              </a:rPr>
              <a:t>Difficult ore shows up after the loss, not before</a:t>
            </a:r>
            <a:endParaRPr lang="en-US" dirty="0">
              <a:latin typeface="Arial"/>
              <a:cs typeface="Arial"/>
            </a:endParaRPr>
          </a:p>
        </p:txBody>
      </p:sp>
    </p:spTree>
    <p:extLst>
      <p:ext uri="{BB962C8B-B14F-4D97-AF65-F5344CB8AC3E}">
        <p14:creationId xmlns:p14="http://schemas.microsoft.com/office/powerpoint/2010/main" val="3961844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B18"/>
        </a:solidFill>
        <a:effectLst/>
      </p:bgPr>
    </p:bg>
    <p:spTree>
      <p:nvGrpSpPr>
        <p:cNvPr id="1" name=""/>
        <p:cNvGrpSpPr/>
        <p:nvPr/>
      </p:nvGrpSpPr>
      <p:grpSpPr>
        <a:xfrm>
          <a:off x="0" y="0"/>
          <a:ext cx="0" cy="0"/>
          <a:chOff x="0" y="0"/>
          <a:chExt cx="0" cy="0"/>
        </a:xfrm>
      </p:grpSpPr>
      <p:pic>
        <p:nvPicPr>
          <p:cNvPr id="3" name="plantPanel" descr="Mineral processing plant interior at night with grinding mill and conveyors">
            <a:extLst>
              <a:ext uri="{FF2B5EF4-FFF2-40B4-BE49-F238E27FC236}">
                <a16:creationId xmlns:a16="http://schemas.microsoft.com/office/drawing/2014/main" id="{DCFB0303-01D3-3A46-D285-7617798F1616}"/>
              </a:ext>
            </a:extLst>
          </p:cNvPr>
          <p:cNvPicPr>
            <a:picLocks noChangeAspect="1"/>
          </p:cNvPicPr>
          <p:nvPr/>
        </p:nvPicPr>
        <p:blipFill>
          <a:blip r:embed="rId3"/>
          <a:stretch>
            <a:fillRect/>
          </a:stretch>
        </p:blipFill>
        <p:spPr>
          <a:xfrm>
            <a:off x="8686949" y="0"/>
            <a:ext cx="3504902" cy="6858000"/>
          </a:xfrm>
          <a:prstGeom prst="rect">
            <a:avLst/>
          </a:prstGeom>
        </p:spPr>
      </p:pic>
      <p:sp>
        <p:nvSpPr>
          <p:cNvPr id="48" name="Rectangle 47">
            <a:extLst>
              <a:ext uri="{FF2B5EF4-FFF2-40B4-BE49-F238E27FC236}">
                <a16:creationId xmlns:a16="http://schemas.microsoft.com/office/drawing/2014/main" id="{5E563A26-702A-8496-2593-61FE182DE08D}"/>
              </a:ext>
            </a:extLst>
          </p:cNvPr>
          <p:cNvSpPr/>
          <p:nvPr/>
        </p:nvSpPr>
        <p:spPr>
          <a:xfrm>
            <a:off x="685800" y="700000"/>
            <a:ext cx="75438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spc="200">
                <a:solidFill>
                  <a:srgbClr val="D2762F"/>
                </a:solidFill>
                <a:effectLst/>
                <a:latin typeface="Arial" panose="020B0604020202020204" pitchFamily="34" charset="0"/>
              </a:rPr>
              <a:t>THE SOLUTION</a:t>
            </a:r>
          </a:p>
          <a:p>
            <a:pPr algn="l">
              <a:buNone/>
            </a:pPr>
            <a:r>
              <a:rPr lang="en-US" sz="100">
                <a:effectLst/>
              </a:rPr>
              <a:t> </a:t>
            </a:r>
            <a:endParaRPr lang="en-US"/>
          </a:p>
        </p:txBody>
      </p:sp>
      <p:sp>
        <p:nvSpPr>
          <p:cNvPr id="58" name="Rectangle 57">
            <a:extLst>
              <a:ext uri="{FF2B5EF4-FFF2-40B4-BE49-F238E27FC236}">
                <a16:creationId xmlns:a16="http://schemas.microsoft.com/office/drawing/2014/main" id="{C7385C2E-EAA0-E862-60B4-7F03D7232422}"/>
              </a:ext>
            </a:extLst>
          </p:cNvPr>
          <p:cNvSpPr/>
          <p:nvPr/>
        </p:nvSpPr>
        <p:spPr>
          <a:xfrm>
            <a:off x="685800" y="1080000"/>
            <a:ext cx="75438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F6F2EA"/>
                </a:solidFill>
                <a:effectLst/>
                <a:latin typeface="Arial" panose="020B0604020202020204" pitchFamily="34" charset="0"/>
              </a:rPr>
              <a:t>Know the ore before it reaches the plant</a:t>
            </a:r>
          </a:p>
          <a:p>
            <a:pPr algn="l">
              <a:buNone/>
            </a:pPr>
            <a:r>
              <a:rPr lang="en-US" sz="100">
                <a:effectLst/>
              </a:rPr>
              <a:t> </a:t>
            </a:r>
            <a:endParaRPr lang="en-US"/>
          </a:p>
        </p:txBody>
      </p:sp>
      <p:sp>
        <p:nvSpPr>
          <p:cNvPr id="69" name="Rectangle 68">
            <a:extLst>
              <a:ext uri="{FF2B5EF4-FFF2-40B4-BE49-F238E27FC236}">
                <a16:creationId xmlns:a16="http://schemas.microsoft.com/office/drawing/2014/main" id="{1EE82964-08B2-3572-F2D4-B24800DFE641}"/>
              </a:ext>
            </a:extLst>
          </p:cNvPr>
          <p:cNvSpPr/>
          <p:nvPr/>
        </p:nvSpPr>
        <p:spPr>
          <a:xfrm>
            <a:off x="685800" y="2350000"/>
            <a:ext cx="7543800" cy="740000"/>
          </a:xfrm>
          <a:prstGeom prst="rect">
            <a:avLst/>
          </a:prstGeom>
          <a:solidFill>
            <a:srgbClr val="302D2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6F2EA"/>
                </a:solidFill>
                <a:effectLst/>
                <a:latin typeface="Arial" panose="020B0604020202020204" pitchFamily="34" charset="0"/>
              </a:rPr>
              <a:t>CONNECT</a:t>
            </a:r>
          </a:p>
          <a:p>
            <a:pPr algn="l">
              <a:buNone/>
            </a:pPr>
            <a:r>
              <a:rPr lang="en-US" sz="1400">
                <a:solidFill>
                  <a:srgbClr val="B9B2A4"/>
                </a:solidFill>
                <a:effectLst/>
                <a:latin typeface="Arial" panose="020B0604020202020204" pitchFamily="34" charset="0"/>
              </a:rPr>
              <a:t>Mineralogy, geomet data, domain knowledge and plant history</a:t>
            </a:r>
            <a:endParaRPr lang="en-US"/>
          </a:p>
        </p:txBody>
      </p:sp>
      <p:sp>
        <p:nvSpPr>
          <p:cNvPr id="81" name="Rectangle 80">
            <a:extLst>
              <a:ext uri="{FF2B5EF4-FFF2-40B4-BE49-F238E27FC236}">
                <a16:creationId xmlns:a16="http://schemas.microsoft.com/office/drawing/2014/main" id="{7BD6D13D-A415-BE58-9AE5-3C0508DCC2C8}"/>
              </a:ext>
            </a:extLst>
          </p:cNvPr>
          <p:cNvSpPr/>
          <p:nvPr/>
        </p:nvSpPr>
        <p:spPr>
          <a:xfrm>
            <a:off x="685800" y="3210000"/>
            <a:ext cx="7543800" cy="740000"/>
          </a:xfrm>
          <a:prstGeom prst="rect">
            <a:avLst/>
          </a:prstGeom>
          <a:solidFill>
            <a:srgbClr val="302D2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6F2EA"/>
                </a:solidFill>
                <a:effectLst/>
                <a:latin typeface="Arial" panose="020B0604020202020204" pitchFamily="34" charset="0"/>
              </a:rPr>
              <a:t>COMPARE</a:t>
            </a:r>
          </a:p>
          <a:p>
            <a:pPr algn="l">
              <a:buNone/>
            </a:pPr>
            <a:r>
              <a:rPr lang="en-US" sz="1400">
                <a:solidFill>
                  <a:srgbClr val="B9B2A4"/>
                </a:solidFill>
                <a:effectLst/>
                <a:latin typeface="Arial" panose="020B0604020202020204" pitchFamily="34" charset="0"/>
              </a:rPr>
              <a:t>Finds similar material the plant has processed before</a:t>
            </a:r>
            <a:endParaRPr lang="en-US"/>
          </a:p>
        </p:txBody>
      </p:sp>
      <p:sp>
        <p:nvSpPr>
          <p:cNvPr id="94" name="Rectangle 93">
            <a:extLst>
              <a:ext uri="{FF2B5EF4-FFF2-40B4-BE49-F238E27FC236}">
                <a16:creationId xmlns:a16="http://schemas.microsoft.com/office/drawing/2014/main" id="{181C993F-3E36-69F7-F16C-40360C6325B0}"/>
              </a:ext>
            </a:extLst>
          </p:cNvPr>
          <p:cNvSpPr/>
          <p:nvPr/>
        </p:nvSpPr>
        <p:spPr>
          <a:xfrm>
            <a:off x="685800" y="4070000"/>
            <a:ext cx="7543800" cy="740000"/>
          </a:xfrm>
          <a:prstGeom prst="rect">
            <a:avLst/>
          </a:prstGeom>
          <a:solidFill>
            <a:srgbClr val="2E2A22"/>
          </a:solidFill>
          <a:ln w="12700">
            <a:solidFill>
              <a:srgbClr val="D2762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D2762F"/>
                </a:solidFill>
                <a:effectLst/>
                <a:latin typeface="Arial" panose="020B0604020202020204" pitchFamily="34" charset="0"/>
              </a:rPr>
              <a:t>PREDICT</a:t>
            </a:r>
          </a:p>
          <a:p>
            <a:pPr algn="l">
              <a:buNone/>
            </a:pPr>
            <a:r>
              <a:rPr lang="en-US" sz="1400">
                <a:solidFill>
                  <a:srgbClr val="DCD5C7"/>
                </a:solidFill>
                <a:effectLst/>
                <a:latin typeface="Arial" panose="020B0604020202020204" pitchFamily="34" charset="0"/>
              </a:rPr>
              <a:t>Expected recovery, throughput constraints and what drives them</a:t>
            </a:r>
            <a:endParaRPr lang="en-US"/>
          </a:p>
        </p:txBody>
      </p:sp>
      <p:sp>
        <p:nvSpPr>
          <p:cNvPr id="108" name="Rectangle 107">
            <a:extLst>
              <a:ext uri="{FF2B5EF4-FFF2-40B4-BE49-F238E27FC236}">
                <a16:creationId xmlns:a16="http://schemas.microsoft.com/office/drawing/2014/main" id="{A0A92E84-C6AB-1604-E630-8CA4C99E53E3}"/>
              </a:ext>
            </a:extLst>
          </p:cNvPr>
          <p:cNvSpPr/>
          <p:nvPr/>
        </p:nvSpPr>
        <p:spPr>
          <a:xfrm>
            <a:off x="685800" y="4930000"/>
            <a:ext cx="7543800" cy="740000"/>
          </a:xfrm>
          <a:prstGeom prst="rect">
            <a:avLst/>
          </a:prstGeom>
          <a:solidFill>
            <a:srgbClr val="302D2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6F2EA"/>
                </a:solidFill>
                <a:effectLst/>
                <a:latin typeface="Arial" panose="020B0604020202020204" pitchFamily="34" charset="0"/>
              </a:rPr>
              <a:t>ACT</a:t>
            </a:r>
          </a:p>
          <a:p>
            <a:pPr algn="l">
              <a:buNone/>
            </a:pPr>
            <a:r>
              <a:rPr lang="en-US" sz="1400">
                <a:solidFill>
                  <a:srgbClr val="B9B2A4"/>
                </a:solidFill>
                <a:effectLst/>
                <a:latin typeface="Arial" panose="020B0604020202020204" pitchFamily="34" charset="0"/>
              </a:rPr>
              <a:t>Actions to consider before that material reaches the plant</a:t>
            </a:r>
            <a:endParaRPr lang="en-US"/>
          </a:p>
        </p:txBody>
      </p:sp>
      <p:sp>
        <p:nvSpPr>
          <p:cNvPr id="123" name="Rectangle 122">
            <a:extLst>
              <a:ext uri="{FF2B5EF4-FFF2-40B4-BE49-F238E27FC236}">
                <a16:creationId xmlns:a16="http://schemas.microsoft.com/office/drawing/2014/main" id="{4FDB10B7-38B0-473E-0002-1BCA3616179A}"/>
              </a:ext>
            </a:extLst>
          </p:cNvPr>
          <p:cNvSpPr/>
          <p:nvPr/>
        </p:nvSpPr>
        <p:spPr>
          <a:xfrm>
            <a:off x="685800" y="5800000"/>
            <a:ext cx="7543800" cy="5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i="1">
                <a:solidFill>
                  <a:srgbClr val="D2762F"/>
                </a:solidFill>
                <a:effectLst/>
                <a:latin typeface="Arial" panose="020B0604020202020204" pitchFamily="34" charset="0"/>
              </a:rPr>
              <a:t>Just ask: “Where is our processing risk next week?”</a:t>
            </a:r>
          </a:p>
          <a:p>
            <a:pPr algn="l">
              <a:buNone/>
            </a:pPr>
            <a:r>
              <a:rPr lang="en-US" sz="100">
                <a:effectLst/>
              </a:rPr>
              <a:t> </a:t>
            </a:r>
            <a:endParaRPr lang="en-US"/>
          </a:p>
        </p:txBody>
      </p:sp>
    </p:spTree>
    <p:extLst>
      <p:ext uri="{BB962C8B-B14F-4D97-AF65-F5344CB8AC3E}">
        <p14:creationId xmlns:p14="http://schemas.microsoft.com/office/powerpoint/2010/main" val="648409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p:nvSpPr>
          <p:cNvPr id="139" name="closeScrim">
            <a:extLst>
              <a:ext uri="{FF2B5EF4-FFF2-40B4-BE49-F238E27FC236}">
                <a16:creationId xmlns:a16="http://schemas.microsoft.com/office/drawing/2014/main" id="{EEC8D164-7F59-21B4-CD9E-DB783A29F980}"/>
              </a:ext>
            </a:extLst>
          </p:cNvPr>
          <p:cNvSpPr/>
          <p:nvPr/>
        </p:nvSpPr>
        <p:spPr>
          <a:xfrm>
            <a:off x="0" y="0"/>
            <a:ext cx="12192000" cy="6858000"/>
          </a:xfrm>
          <a:prstGeom prst="rect">
            <a:avLst/>
          </a:prstGeom>
          <a:solidFill>
            <a:srgbClr val="14130F">
              <a:alpha val="6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8EB43340-41F6-E025-AFBD-629BD8ACAE7D}"/>
              </a:ext>
            </a:extLst>
          </p:cNvPr>
          <p:cNvSpPr/>
          <p:nvPr/>
        </p:nvSpPr>
        <p:spPr>
          <a:xfrm>
            <a:off x="685800" y="800000"/>
            <a:ext cx="7000000" cy="3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spc="200">
                <a:solidFill>
                  <a:srgbClr val="D2762F"/>
                </a:solidFill>
                <a:effectLst/>
                <a:latin typeface="Arial" panose="020B0604020202020204" pitchFamily="34" charset="0"/>
              </a:rPr>
              <a:t>THE OPPORTUNITY</a:t>
            </a:r>
          </a:p>
          <a:p>
            <a:pPr algn="l">
              <a:buNone/>
            </a:pPr>
            <a:r>
              <a:rPr lang="en-US" sz="100">
                <a:effectLst/>
              </a:rPr>
              <a:t> </a:t>
            </a:r>
            <a:endParaRPr lang="en-US"/>
          </a:p>
        </p:txBody>
      </p:sp>
      <p:sp>
        <p:nvSpPr>
          <p:cNvPr id="174" name="Rectangle 173">
            <a:extLst>
              <a:ext uri="{FF2B5EF4-FFF2-40B4-BE49-F238E27FC236}">
                <a16:creationId xmlns:a16="http://schemas.microsoft.com/office/drawing/2014/main" id="{43B14673-A3A9-CA38-8DE7-74893B6E9B7E}"/>
              </a:ext>
            </a:extLst>
          </p:cNvPr>
          <p:cNvSpPr/>
          <p:nvPr/>
        </p:nvSpPr>
        <p:spPr>
          <a:xfrm>
            <a:off x="685800" y="1230000"/>
            <a:ext cx="7000000" cy="1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F6F2EA"/>
                </a:solidFill>
                <a:effectLst/>
                <a:latin typeface="Arial" panose="020B0604020202020204" pitchFamily="34" charset="0"/>
              </a:rPr>
              <a:t>Ore knowledge, connected to business value</a:t>
            </a:r>
          </a:p>
          <a:p>
            <a:pPr algn="l">
              <a:buNone/>
            </a:pPr>
            <a:r>
              <a:rPr lang="en-US" sz="100">
                <a:effectLst/>
              </a:rPr>
              <a:t> </a:t>
            </a:r>
            <a:endParaRPr lang="en-US"/>
          </a:p>
        </p:txBody>
      </p:sp>
      <p:sp>
        <p:nvSpPr>
          <p:cNvPr id="256" name="Rectangle 255">
            <a:extLst>
              <a:ext uri="{FF2B5EF4-FFF2-40B4-BE49-F238E27FC236}">
                <a16:creationId xmlns:a16="http://schemas.microsoft.com/office/drawing/2014/main" id="{1B1C65BB-EE45-8A22-804D-8B2DE988C40F}"/>
              </a:ext>
            </a:extLst>
          </p:cNvPr>
          <p:cNvSpPr/>
          <p:nvPr/>
        </p:nvSpPr>
        <p:spPr>
          <a:xfrm>
            <a:off x="685800" y="4700000"/>
            <a:ext cx="10820400" cy="11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E8A45C"/>
                </a:solidFill>
                <a:effectLst/>
                <a:latin typeface="Arial" panose="020B0604020202020204" pitchFamily="34" charset="0"/>
              </a:rPr>
              <a:t>Know the ore. Predict the performance. Protect the value. Geomet 360.</a:t>
            </a:r>
          </a:p>
          <a:p>
            <a:pPr algn="l">
              <a:buNone/>
            </a:pPr>
            <a:r>
              <a:rPr lang="en-US" sz="100">
                <a:effectLst/>
              </a:rPr>
              <a:t> </a:t>
            </a:r>
            <a:endParaRPr lang="en-US"/>
          </a:p>
        </p:txBody>
      </p:sp>
      <p:sp>
        <p:nvSpPr>
          <p:cNvPr id="257" name="Rectangle 256">
            <a:extLst>
              <a:ext uri="{FF2B5EF4-FFF2-40B4-BE49-F238E27FC236}">
                <a16:creationId xmlns:a16="http://schemas.microsoft.com/office/drawing/2014/main" id="{7AB31F1E-3F3A-4684-CD10-69A9978E4438}"/>
              </a:ext>
            </a:extLst>
          </p:cNvPr>
          <p:cNvSpPr/>
          <p:nvPr/>
        </p:nvSpPr>
        <p:spPr>
          <a:xfrm>
            <a:off x="685800" y="2900000"/>
            <a:ext cx="3406800" cy="1000000"/>
          </a:xfrm>
          <a:prstGeom prst="rect">
            <a:avLst/>
          </a:prstGeom>
          <a:solidFill>
            <a:srgbClr val="14130F">
              <a:alpha val="7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6F2EA"/>
                </a:solidFill>
                <a:effectLst/>
                <a:latin typeface="Arial" panose="020B0604020202020204" pitchFamily="34" charset="0"/>
              </a:rPr>
              <a:t>Stable production</a:t>
            </a:r>
          </a:p>
          <a:p>
            <a:pPr algn="l">
              <a:buNone/>
            </a:pPr>
            <a:r>
              <a:rPr lang="en-US" sz="1400">
                <a:solidFill>
                  <a:srgbClr val="C9C2B4"/>
                </a:solidFill>
                <a:effectLst/>
                <a:latin typeface="Arial" panose="020B0604020202020204" pitchFamily="34" charset="0"/>
              </a:rPr>
              <a:t>Fewer throughput surprises</a:t>
            </a:r>
            <a:endParaRPr lang="en-US"/>
          </a:p>
        </p:txBody>
      </p:sp>
      <p:sp>
        <p:nvSpPr>
          <p:cNvPr id="259" name="Rectangle 258">
            <a:extLst>
              <a:ext uri="{FF2B5EF4-FFF2-40B4-BE49-F238E27FC236}">
                <a16:creationId xmlns:a16="http://schemas.microsoft.com/office/drawing/2014/main" id="{26B5221D-4E74-38A5-C1ED-A3C33D18D210}"/>
              </a:ext>
            </a:extLst>
          </p:cNvPr>
          <p:cNvSpPr/>
          <p:nvPr/>
        </p:nvSpPr>
        <p:spPr>
          <a:xfrm>
            <a:off x="4392600" y="2900000"/>
            <a:ext cx="3406800" cy="1000000"/>
          </a:xfrm>
          <a:prstGeom prst="rect">
            <a:avLst/>
          </a:prstGeom>
          <a:solidFill>
            <a:srgbClr val="14130F">
              <a:alpha val="7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6F2EA"/>
                </a:solidFill>
                <a:effectLst/>
                <a:latin typeface="Arial" panose="020B0604020202020204" pitchFamily="34" charset="0"/>
              </a:rPr>
              <a:t>Protected value</a:t>
            </a:r>
          </a:p>
          <a:p>
            <a:pPr algn="l">
              <a:buNone/>
            </a:pPr>
            <a:r>
              <a:rPr lang="en-US" sz="1400">
                <a:solidFill>
                  <a:srgbClr val="C9C2B4"/>
                </a:solidFill>
                <a:effectLst/>
                <a:latin typeface="Arial" panose="020B0604020202020204" pitchFamily="34" charset="0"/>
              </a:rPr>
              <a:t>Improved recovery and capacity</a:t>
            </a:r>
            <a:endParaRPr lang="en-US"/>
          </a:p>
        </p:txBody>
      </p:sp>
      <p:sp>
        <p:nvSpPr>
          <p:cNvPr id="262" name="Rectangle 261">
            <a:extLst>
              <a:ext uri="{FF2B5EF4-FFF2-40B4-BE49-F238E27FC236}">
                <a16:creationId xmlns:a16="http://schemas.microsoft.com/office/drawing/2014/main" id="{7ECBF106-E203-C35C-B1FD-D6BA0E9D9778}"/>
              </a:ext>
            </a:extLst>
          </p:cNvPr>
          <p:cNvSpPr/>
          <p:nvPr/>
        </p:nvSpPr>
        <p:spPr>
          <a:xfrm>
            <a:off x="8099400" y="2900000"/>
            <a:ext cx="3406800" cy="1000000"/>
          </a:xfrm>
          <a:prstGeom prst="rect">
            <a:avLst/>
          </a:prstGeom>
          <a:solidFill>
            <a:srgbClr val="14130F">
              <a:alpha val="7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6F2EA"/>
                </a:solidFill>
                <a:effectLst/>
                <a:latin typeface="Arial" panose="020B0604020202020204" pitchFamily="34" charset="0"/>
              </a:rPr>
              <a:t>Leaner processing</a:t>
            </a:r>
          </a:p>
          <a:p>
            <a:pPr algn="l">
              <a:buNone/>
            </a:pPr>
            <a:r>
              <a:rPr lang="en-US" sz="1400">
                <a:solidFill>
                  <a:srgbClr val="C9C2B4"/>
                </a:solidFill>
                <a:effectLst/>
                <a:latin typeface="Arial" panose="020B0604020202020204" pitchFamily="34" charset="0"/>
              </a:rPr>
              <a:t>Targeted energy and water use</a:t>
            </a:r>
            <a:endParaRPr lang="en-US"/>
          </a:p>
        </p:txBody>
      </p:sp>
    </p:spTree>
    <p:extLst>
      <p:ext uri="{BB962C8B-B14F-4D97-AF65-F5344CB8AC3E}">
        <p14:creationId xmlns:p14="http://schemas.microsoft.com/office/powerpoint/2010/main" val="3300284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4</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15</cp:revision>
  <dcterms:created xsi:type="dcterms:W3CDTF">2026-09-30T09:39:34Z</dcterms:created>
  <dcterms:modified xsi:type="dcterms:W3CDTF">2026-09-30T09:55:54Z</dcterms:modified>
  <cp:category/>
</cp:coreProperties>
</file>